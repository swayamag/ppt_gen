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0029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Reversing Margin Erosion: A Strategic Blueprint for Sustainable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Current margin performance is under pressure due to a combination of rising input costs, competitive pricing pressures, and inefficiencies in the value chain. We must implement structural changes across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product mix, operational efficiency, and market positioning to restore healthy margins.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Premium Volume Growth: Benchmarking Against Key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Our Premium Volume Trend (Last 3 Years)</a:t>
            </a:r>
          </a:p>
        </p:txBody>
      </p:sp>
      <p:pic>
        <p:nvPicPr>
          <p:cNvPr id="6" name="Picture 5" descr="slide_1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5195620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Show consistent year-over-year growth in premium segment volume compared to industry average.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251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Competitive Volume Comparison (Market Share %)</a:t>
            </a:r>
          </a:p>
        </p:txBody>
      </p:sp>
      <p:pic>
        <p:nvPicPr>
          <p:cNvPr id="9" name="Picture 8" descr="slide_1_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191131"/>
            <a:ext cx="5195620" cy="33724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Identify market share gaps and opportunities where premium volume growth can accelerate.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395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Initiatives: Scaling Premium Operations through Expansion and Loyalty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395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Expansion Playbooks (Growth Focus)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395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Develop new market entry playbooks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Identify high-potential adjacent markets for premium service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Optimize distribution channels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Streamline partnerships and physical touchpoints to enhance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Product line diversification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Introduce premium tiers or complementary products to increase basket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Build scalable infrastructure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Invest in technology and operational capacity for rapid scaling.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44%  —  New Market Penetration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251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Customer Loyalty Workstreams (Retention Focus)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251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Enhance personalized CX journey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Implement tailored engagement strategies based on customer lifecycle stage.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251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Launch tiered loyalty programs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Incentivize repeat purchases and increase lifetime value (LTV).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251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Build community advocacy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Create exclusive member experiences to foster brand attachment.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251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Proactive service recovery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Establish dedicated support channels for high-value customers.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46%  —  Customer Retention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6995159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Projected Market Share Recovery Trajectory (Next 6 Quarters)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Market Share Growth Projection</a:t>
            </a:r>
          </a:p>
        </p:txBody>
      </p:sp>
      <p:pic>
        <p:nvPicPr>
          <p:cNvPr id="6" name="Picture 5" descr="slide_3_char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6812279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Consistent execution of strategic initiatives is expected to drive market share recovery and...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• Focus on high-growth segments identified in the Q3 analysis.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• Accelerate product adoption through targeted digital campaigns.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• Optimize distribution channels to capture underserved regional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markets.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• Strengthen key partnerships for increased market penetration.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251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Projected Financial Gains &amp; Key Performance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13%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26%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Revenue Uplift Projection by Quarter</a:t>
            </a:r>
          </a:p>
        </p:txBody>
      </p:sp>
      <p:pic>
        <p:nvPicPr>
          <p:cNvPr id="14" name="Picture 13" descr="slide_4_chart_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59302"/>
            <a:ext cx="5195620" cy="2004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Anticipate significant revenue acceleration driven by market share recovery and optimized sales...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Conversion Rate Improvement vs. Benchmark</a:t>
            </a:r>
          </a:p>
        </p:txBody>
      </p:sp>
      <p:pic>
        <p:nvPicPr>
          <p:cNvPr id="17" name="Picture 16" descr="slide_4_chart_pan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3559302"/>
            <a:ext cx="5195620" cy="2004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Achieving targeted conversion uplifts will maximize ROI and validate the proposed operational...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5371"/>
            <a:ext cx="6329476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Resource Allocation &amp; Next Steps: Phased Implementation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5371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Key Action Areas and Required Resources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91131"/>
          <a:ext cx="6329475" cy="3738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25"/>
                <a:gridCol w="2109825"/>
                <a:gridCol w="2109825"/>
              </a:tblGrid>
              <a:tr h="93454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Key Workstream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Target Outcome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</a:tr>
              <a:tr h="9345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Phase 1: Foundation Build-out (Q3)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+15%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45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Phase 2: Optimization &amp; Scale (Q4)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+10% volume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  <a:tr h="93454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Phase 3: Full Rollout &amp; Governance (H1 Next Year)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$350K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+25%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Immediate Priority: Tech Stack Audit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Conduct a comprehensive audit of current systems to identify integration gaps and necessary upgrades for scalability.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Resource Allocation Focus: Talent Gap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Prioritize hiring or upskilling specialized roles (e.g., Data Scientists, Process Engineers) needed for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Risk Mitigation: Stakeholder Buy-in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Establish a cross-functional steering committee to ensure alignment and secure buy-in from all impacted departments.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Next Milestone: Pilot Go/No-Go Decision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Set a firm date for the Q3 pilot review, defining clear success metrics and decision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