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00298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7437"/>
            <a:ext cx="11274552" cy="29032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Margin erosion of 12% in the core tier due to aggressive competitor pricing and customer churn.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1825371"/>
            <a:ext cx="5378500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(chart1)</a:t>
            </a:r>
          </a:p>
        </p:txBody>
      </p:sp>
      <p:pic>
        <p:nvPicPr>
          <p:cNvPr id="6" name="Picture 5" descr="slide_1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5195620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3251" y="1825371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(chart2)</a:t>
            </a:r>
          </a:p>
        </p:txBody>
      </p:sp>
      <p:pic>
        <p:nvPicPr>
          <p:cNvPr id="9" name="Picture 8" descr="slide_1_ch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191131"/>
            <a:ext cx="5195620" cy="33724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7395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3251" y="1825371"/>
            <a:ext cx="5188305" cy="427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395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Left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395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49%  —  Conversion rate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3251" y="1825371"/>
            <a:ext cx="5188305" cy="4709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Strategic Initiative for Right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251" y="258546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step5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251" y="334556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step6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3251" y="4105656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step7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3251" y="4865751"/>
            <a:ext cx="5188305" cy="546925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step8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5701855"/>
            <a:ext cx="5188305" cy="39490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A202C"/>
                </a:solidFill>
                <a:latin typeface="Arial"/>
              </a:defRPr>
            </a:pPr>
            <a:r>
              <a:t>↑ 46%  —  Conversion rate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6995159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5371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(chart_panel)</a:t>
            </a:r>
          </a:p>
        </p:txBody>
      </p:sp>
      <p:pic>
        <p:nvPicPr>
          <p:cNvPr id="6" name="Picture 5" descr="slide_3_char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1131"/>
            <a:ext cx="6812279" cy="337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09272"/>
            <a:ext cx="6995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25371"/>
            <a:ext cx="3666744" cy="419538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1A202C"/>
                </a:solidFill>
                <a:latin typeface="Arial"/>
              </a:defRPr>
            </a:pPr>
            <a:r>
              <a:t>Focusing on customer churn reduction.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Optimizing pricing tier models.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Upgrading partner sales networks.</a:t>
            </a:r>
          </a:p>
          <a:p>
            <a:pPr>
              <a:defRPr sz="1300">
                <a:solidFill>
                  <a:srgbClr val="1A202C"/>
                </a:solidFill>
                <a:latin typeface="Arial"/>
              </a:defRPr>
            </a:pPr>
            <a:r>
              <a:t>Automating client onboarding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3251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193542"/>
            <a:ext cx="5378500" cy="28272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13%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10%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5984" y="1673352"/>
            <a:ext cx="2525572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005C53"/>
                </a:solidFill>
                <a:latin typeface="Arial"/>
              </a:defRPr>
            </a:pPr>
            <a:r>
              <a:t>↑ 26%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Growth in premium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(chart_panel1)</a:t>
            </a:r>
          </a:p>
        </p:txBody>
      </p:sp>
      <p:pic>
        <p:nvPicPr>
          <p:cNvPr id="14" name="Picture 13" descr="slide_4_chart_pan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59302"/>
            <a:ext cx="5195620" cy="2004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251" y="319354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Growth Trend Analysis (chart_panel2)</a:t>
            </a:r>
          </a:p>
        </p:txBody>
      </p:sp>
      <p:pic>
        <p:nvPicPr>
          <p:cNvPr id="17" name="Picture 16" descr="slide_4_chart_pan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3559302"/>
            <a:ext cx="5195620" cy="2004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3251" y="5609272"/>
            <a:ext cx="53785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Target Scenario projects a steady recovery over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5371"/>
            <a:ext cx="6329476" cy="41953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1274552" cy="77495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200" b="1">
                <a:solidFill>
                  <a:srgbClr val="005C53"/>
                </a:solidFill>
                <a:latin typeface="Arial"/>
              </a:defRPr>
            </a:pPr>
            <a:r>
              <a:t>Strategic Blueprint for Margin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5371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A202C"/>
                </a:solidFill>
                <a:latin typeface="Arial"/>
              </a:defRPr>
            </a:pPr>
            <a:r>
              <a:t>Strategic Resource Allocations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191131"/>
          <a:ext cx="6329475" cy="3372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825"/>
                <a:gridCol w="2109825"/>
                <a:gridCol w="2109825"/>
              </a:tblGrid>
              <a:tr h="67448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Key Workstream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BFBF9"/>
                          </a:solidFill>
                          <a:latin typeface="Arial"/>
                        </a:defRPr>
                      </a:pPr>
                      <a:r>
                        <a:t>Target Outcome</a:t>
                      </a:r>
                    </a:p>
                  </a:txBody>
                  <a:tcPr>
                    <a:solidFill>
                      <a:srgbClr val="005C53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Customer Retention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+15%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Premium Tier Feature Expansion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$200K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+10% volume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  <a:tr h="6744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Channel Partner Referral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$350K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+25%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48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Sales Team Direct Enablement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+5% scale</a:t>
                      </a:r>
                    </a:p>
                  </a:txBody>
                  <a:tcPr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609272"/>
            <a:ext cx="63294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4A5568"/>
                </a:solidFill>
                <a:latin typeface="Arial"/>
              </a:defRPr>
            </a:pPr>
            <a:r>
              <a:t>Marketing and retention account for 68% of initial resource allocation.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4227" y="1825371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card1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4227" y="2965513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card2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4227" y="4105656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card3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4227" y="5245798"/>
            <a:ext cx="4427524" cy="77495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5C53"/>
                </a:solidFill>
                <a:latin typeface="Arial"/>
              </a:defRPr>
            </a:pPr>
            <a:r>
              <a:t>01  Key Milestone Playbook card4</a:t>
            </a:r>
          </a:p>
          <a:p>
            <a:pPr>
              <a:defRPr sz="950">
                <a:solidFill>
                  <a:srgbClr val="4A5568"/>
                </a:solidFill>
                <a:latin typeface="Arial"/>
              </a:defRPr>
            </a:pPr>
            <a:r>
              <a:t>Detailing action plan milestones and critical project execution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