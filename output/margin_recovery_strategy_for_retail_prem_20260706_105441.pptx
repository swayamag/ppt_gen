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0029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Sustained margin erosion due to rising input costs, increased competitive pricing pressure, and suboptimal product mix requires immediate strategic intervention. We must stabilize profitability while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positioning for sustainable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Premium Volume Growth: Benchmarking Against Key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Historical Premium Volume Trend (Our Company vs. Competitors)</a:t>
            </a:r>
          </a:p>
        </p:txBody>
      </p:sp>
      <p:pic>
        <p:nvPicPr>
          <p:cNvPr id="6" name="Picture 5" descr="slide_1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5195620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Our premium volume growth has shown steady acceleration, outpacing the average trend of key...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251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Market Share Contribution by Premium Segment (YoY)</a:t>
            </a:r>
          </a:p>
        </p:txBody>
      </p:sp>
      <p:pic>
        <p:nvPicPr>
          <p:cNvPr id="9" name="Picture 8" descr="slide_1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191131"/>
            <a:ext cx="5195620" cy="3372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Competitor C shows strong penetration in the high-end segment, indicating a potential area for...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395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Initiatives for Scaling Premium Operations and Loyalty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Expansion Playbooks: Market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Develop tiered market entry playbooks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Tailor expansion strategies for diverse geographic and segment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Optimize distribution channels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Integrate new retail partners and digital sales touchpoints.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Localize product offerings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Adapt core products to meet regional tastes and cultural nuances.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Establish strategic partnerships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Leverage third-party networks for accelerated market penetration.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44%  —  New Market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251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Customer Loyalty: Retention &amp;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1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Implement advanced loyalty tiers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Reward high-value customers with exclusive benefits and early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251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Personalize customer journey mapping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Use data analytics to predict needs and preemptively engage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251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Build community advocacy programs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Incentivize referrals and create brand evangelists through engagement.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251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Enhance post-purchase support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Provide premium, proactive service to maximize lifetime value (LTV).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46%  —  Customer Retention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5371"/>
            <a:ext cx="6995159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Projecting Market Share Recovery Over the Next Six Quarters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Market Share Trajectory (Q1 2024 - Q6 2025)</a:t>
            </a:r>
          </a:p>
        </p:txBody>
      </p:sp>
      <p:pic>
        <p:nvPicPr>
          <p:cNvPr id="6" name="Picture 5" descr="slide_3_cha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6812279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Consistent execution of strategic initiatives is projected to drive market share recovery and...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• Focus on high-margin premium product lines to accelerate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revenue capture.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• Expand distribution channels into underserved regional markets.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• Enhance digital presence through targeted marketing campaigns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to boost brand visibility.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• Optimize operational efficiency to maintain competitive pricing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while improving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Projected Financial Gains &amp; Key Performance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13%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26%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Revenue Uplift Projection by Quarter</a:t>
            </a:r>
          </a:p>
        </p:txBody>
      </p:sp>
      <p:pic>
        <p:nvPicPr>
          <p:cNvPr id="14" name="Picture 13" descr="slide_4_chart_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59302"/>
            <a:ext cx="5195620" cy="2004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Demonstrates accelerated revenue growth driven by market share recovery and optimized sales...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Conversion Rate Improvement vs. Baseline</a:t>
            </a:r>
          </a:p>
        </p:txBody>
      </p:sp>
      <p:pic>
        <p:nvPicPr>
          <p:cNvPr id="17" name="Picture 16" descr="slide_4_chart_pan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3559302"/>
            <a:ext cx="5195620" cy="2004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Achieving a 15% lift in conversion rate is critical to meeting projected revenue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5371"/>
            <a:ext cx="6329476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Resource Allocation &amp; Next Steps: Prioritizing Implementation Tracks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5371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Phased Resource Commitment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91131"/>
          <a:ext cx="6329475" cy="337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25"/>
                <a:gridCol w="2109825"/>
                <a:gridCol w="2109825"/>
              </a:tblGrid>
              <a:tr h="8431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Key Workstream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Target Outcome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</a:tr>
              <a:tr h="84310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Phase 1: Foundation Buildout (Q3)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+15%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310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Phase 2: Pilot Launch &amp; Iteration (Q4)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+10% volume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  <a:tr h="84310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Phase 3: Scale &amp; Optimization (H1 Next 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$350K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+25%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609272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A staggered approach minimizes initial risk while ensuring continuous learning and resource...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High Priority  Immediate Action: Finalize Budget Approval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Secure sign-off on the proposed $XM budget allocation to initiate hiring and vendor contracts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Critical Path  Resource Mobilization: Staffing Plan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Recruit key roles (Product Manager, Data Scientist) within the next 30 days to support Phase 1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Must-Do  Risk Mitigation: Legal &amp; Compliance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Engage external counsel early to ensure full compliance across all target markets before launch.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Target Date  Next Milestone: Pilot Program Kickoff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Establish clear success metrics and operational readiness for the Q4 pilot program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