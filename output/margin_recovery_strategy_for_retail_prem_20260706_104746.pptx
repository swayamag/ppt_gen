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0029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Margin erosion of 12% in the core tier due to aggressive competitor pricing and customer churn.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3251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(chart1)</a:t>
            </a:r>
          </a:p>
        </p:txBody>
      </p:sp>
      <p:pic>
        <p:nvPicPr>
          <p:cNvPr id="6" name="Picture 5" descr="slide_1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5195620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251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(chart2)</a:t>
            </a:r>
          </a:p>
        </p:txBody>
      </p:sp>
      <p:pic>
        <p:nvPicPr>
          <p:cNvPr id="9" name="Picture 8" descr="slide_1_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2191131"/>
            <a:ext cx="5195620" cy="33724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395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395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Strategic Initiative for Left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395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step1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step2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step3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step4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49%  —  Conversion rate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251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Strategic Initiative for Right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251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step5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251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step6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251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step7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251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step8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46%  —  Conversion rate indicator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5371"/>
            <a:ext cx="6995159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(chart_panel)</a:t>
            </a:r>
          </a:p>
        </p:txBody>
      </p:sp>
      <p:pic>
        <p:nvPicPr>
          <p:cNvPr id="6" name="Picture 5" descr="slide_3_char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6812279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Focusing on customer churn reduction.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Optimizing pricing tier models.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Upgrading partner sales networks.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Automating client onboarding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3251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13%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26%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(chart_panel1)</a:t>
            </a:r>
          </a:p>
        </p:txBody>
      </p:sp>
      <p:pic>
        <p:nvPicPr>
          <p:cNvPr id="14" name="Picture 13" descr="slide_4_chart_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59302"/>
            <a:ext cx="5195620" cy="2004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(chart_panel2)</a:t>
            </a:r>
          </a:p>
        </p:txBody>
      </p:sp>
      <p:pic>
        <p:nvPicPr>
          <p:cNvPr id="17" name="Picture 16" descr="slide_4_chart_pan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3559302"/>
            <a:ext cx="5195620" cy="2004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5371"/>
            <a:ext cx="6329476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5371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Strategic Resource Allocations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91131"/>
          <a:ext cx="6329475" cy="3372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25"/>
                <a:gridCol w="2109825"/>
                <a:gridCol w="2109825"/>
              </a:tblGrid>
              <a:tr h="6744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Key Workstream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Target Outcome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Customer Retention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+15%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Premium Tier Feature Expansion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$200K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+10% volume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Channel Partner Referral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$350K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+25%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Sales Team Direct Enablement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+5% scale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609272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Marketing and retention account for 68% of initial resource allocation.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card1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card2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card3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card4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